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8e356a03e4584" /><Relationship Type="http://schemas.openxmlformats.org/officeDocument/2006/relationships/extended-properties" Target="/docProps/app.xml" Id="Ra85a509a62244882" /><Relationship Type="http://schemas.openxmlformats.org/officeDocument/2006/relationships/officeDocument" Target="/ppt/presentation.xml" Id="R5ba77f33d50d46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3493c5bf843eb"/>
  </p:sldMasterIdLst>
  <p:notesMasterIdLst>
    <p:notesMasterId xmlns:r="http://schemas.openxmlformats.org/officeDocument/2006/relationships" r:id="R158fe47e02104fa8"/>
  </p:notesMasterIdLst>
  <p:sldIdLst>
    <p:sldId xmlns:r="http://schemas.openxmlformats.org/officeDocument/2006/relationships" id="256" r:id="Rfed5ee98db624cd5"/>
    <p:sldId xmlns:r="http://schemas.openxmlformats.org/officeDocument/2006/relationships" id="257" r:id="R5c9aea1759b44739"/>
    <p:sldId xmlns:r="http://schemas.openxmlformats.org/officeDocument/2006/relationships" id="258" r:id="Racb0fe6c172f4014"/>
    <p:sldId xmlns:r="http://schemas.openxmlformats.org/officeDocument/2006/relationships" id="259" r:id="R39f5da649c8e4bfd"/>
    <p:sldId xmlns:r="http://schemas.openxmlformats.org/officeDocument/2006/relationships" id="260" r:id="R24553e2b38414a47"/>
    <p:sldId xmlns:r="http://schemas.openxmlformats.org/officeDocument/2006/relationships" id="261" r:id="R406f5d07a230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2169e03f2f42b4" /><Relationship Type="http://schemas.openxmlformats.org/officeDocument/2006/relationships/slideMaster" Target="/ppt/slideMasters/slideMaster1.xml" Id="Rf493493c5bf843eb" /><Relationship Type="http://schemas.openxmlformats.org/officeDocument/2006/relationships/notesMaster" Target="/ppt/notesMasters/notesMaster1.xml" Id="R158fe47e02104fa8" /><Relationship Type="http://schemas.openxmlformats.org/officeDocument/2006/relationships/presProps" Target="/ppt/presProps.xml" Id="R90da9f2315714c4b" /><Relationship Type="http://schemas.openxmlformats.org/officeDocument/2006/relationships/tableStyles" Target="/ppt/tableStyles.xml" Id="R7c5986f643ff4bba" /><Relationship Type="http://schemas.openxmlformats.org/officeDocument/2006/relationships/slide" Target="/ppt/slides/slide1.xml" Id="Rfed5ee98db624cd5" /><Relationship Type="http://schemas.openxmlformats.org/officeDocument/2006/relationships/slide" Target="/ppt/slides/slide2.xml" Id="R5c9aea1759b44739" /><Relationship Type="http://schemas.openxmlformats.org/officeDocument/2006/relationships/slide" Target="/ppt/slides/slide3.xml" Id="Racb0fe6c172f4014" /><Relationship Type="http://schemas.openxmlformats.org/officeDocument/2006/relationships/slide" Target="/ppt/slides/slide4.xml" Id="R39f5da649c8e4bfd" /><Relationship Type="http://schemas.openxmlformats.org/officeDocument/2006/relationships/slide" Target="/ppt/slides/slide5.xml" Id="R24553e2b38414a47" /><Relationship Type="http://schemas.openxmlformats.org/officeDocument/2006/relationships/slide" Target="/ppt/slides/slide6.xml" Id="R406f5d07a230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47659e35bd43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b2b84ba6a4f90" /><Relationship Type="http://schemas.openxmlformats.org/officeDocument/2006/relationships/notesMaster" Target="/ppt/notesMasters/notesMaster1.xml" Id="R7bb73f1150c2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c09c042c164468" /><Relationship Type="http://schemas.openxmlformats.org/officeDocument/2006/relationships/notesMaster" Target="/ppt/notesMasters/notesMaster1.xml" Id="R385b45c017724d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d041814bf410e" /><Relationship Type="http://schemas.openxmlformats.org/officeDocument/2006/relationships/notesMaster" Target="/ppt/notesMasters/notesMaster1.xml" Id="R8edf341b7e71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45f45b02a41b4" /><Relationship Type="http://schemas.openxmlformats.org/officeDocument/2006/relationships/notesMaster" Target="/ppt/notesMasters/notesMaster1.xml" Id="R10cd6cdbd3f54e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80b25b058d4acf" /><Relationship Type="http://schemas.openxmlformats.org/officeDocument/2006/relationships/notesMaster" Target="/ppt/notesMasters/notesMaster1.xml" Id="Rf34f26255cac40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99a9eb6d0a4824" /><Relationship Type="http://schemas.openxmlformats.org/officeDocument/2006/relationships/notesMaster" Target="/ppt/notesMasters/notesMaster1.xml" Id="Rdcdffaab111b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1a6b9507340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4a4e171064810" /><Relationship Type="http://schemas.openxmlformats.org/officeDocument/2006/relationships/slideLayout" Target="/ppt/slideLayouts/slideLayout1.xml" Id="Rc8e3161b2cab47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3161b2cab47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5c22647114c76" /><Relationship Type="http://schemas.openxmlformats.org/officeDocument/2006/relationships/notesSlide" Target="/ppt/notesSlides/notesSlide1.xml" Id="Re69da0e4edf8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a6288661c450b" /><Relationship Type="http://schemas.openxmlformats.org/officeDocument/2006/relationships/notesSlide" Target="/ppt/notesSlides/notesSlide2.xml" Id="R4df63a35810b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8fbac46114413" /><Relationship Type="http://schemas.openxmlformats.org/officeDocument/2006/relationships/notesSlide" Target="/ppt/notesSlides/notesSlide3.xml" Id="R6c3cce496947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1444231f643ff" /><Relationship Type="http://schemas.openxmlformats.org/officeDocument/2006/relationships/notesSlide" Target="/ppt/notesSlides/notesSlide4.xml" Id="Rf1d0752968214c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9ee707a184105" /><Relationship Type="http://schemas.openxmlformats.org/officeDocument/2006/relationships/notesSlide" Target="/ppt/notesSlides/notesSlide5.xml" Id="R25ab098ac26d4f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2650b7d674deb" /><Relationship Type="http://schemas.openxmlformats.org/officeDocument/2006/relationships/notesSlide" Target="/ppt/notesSlides/notesSlide6.xml" Id="R0b3c2cf3e08749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EE6CA-5FD6-4609-BF14-ABE2B89E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11F23-0D1F-4484-8A4A-3EBB0176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1DB63-EBDC-4C3C-A9E2-ACA9D2A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061EA-3E0C-45BE-9810-421DFC8C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E7101-7FE5-46F5-86E4-6D1DCBF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ФУНКЦИОНАЛЬНАЯ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68D41-06F1-4AFD-A5ED-083B9DEB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Планирование производства —</a:t>
            </a:r>
          </a:p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в одном рабочем контуре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2CD11-72DA-4B83-BA80-4B3F520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DC7"/>
                </a:solidFill>
              </a:defRPr>
            </a:pPr>
            <a:r>
              <a:rPr sz="1500" b="0">
                <a:solidFill>
                  <a:srgbClr val="B8BDC7"/>
                </a:solidFill>
              </a:rPr>
              <a:t>PLAN PORTAL объединяет спрос ОХЛ и ЗАМ, мощности, графики линий, ручные решения и операционный контроль.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40EBC-F628-4E30-8F56-B2D2F662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77B9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227E7-7E40-424E-ADB5-ED6EC25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ОХЛ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0F4EC-F824-41E1-BC9C-1E84CD3F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242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C4BB6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BF51F-7B9C-49A0-837C-FEF5615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909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ЗАМ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C2085-4F13-45ED-97CC-51B0F45A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E906C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D045-FF04-464F-8438-40BF40E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9092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ПЦ / КЦ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4B143-FD06-48B3-8E27-DB780C8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47800"/>
            <a:ext cx="3905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0460F-B5FD-413A-A76E-3122D6E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7FA"/>
                </a:solidFill>
              </a:defRPr>
            </a:pPr>
            <a:r>
              <a:rPr sz="1200" b="1">
                <a:solidFill>
                  <a:srgbClr val="F6F7FA"/>
                </a:solidFill>
              </a:rPr>
              <a:t>План на сегодня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B0794-B3E5-4C5D-9E55-CCEA052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90750"/>
            <a:ext cx="323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C21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5D49D-9834-4EEF-8018-9A0CF98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7FA"/>
                </a:solidFill>
              </a:defRPr>
            </a:pPr>
            <a:r>
              <a:rPr sz="1050" b="1">
                <a:solidFill>
                  <a:srgbClr val="F6F7FA"/>
                </a:solidFill>
              </a:rPr>
              <a:t>Линии и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5DFE3-2550-4C0B-901C-A6BE9E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323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C21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1FF1E-BBCF-4908-9079-8E863883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Штуки · кг · короба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4D6F2-75BA-4314-B628-5E71624E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323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C21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4E0CB-01E3-4D6C-8661-A6767E4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Время и загрузка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6ED06-6BA2-4BB8-BE6A-A3EB9B07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323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C21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5067C-F0A2-44DA-88A3-DF0F801A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Статус исполнения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CE998-13F8-4375-B769-85B681AE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7FA"/>
                </a:solidFill>
              </a:defRPr>
            </a:pPr>
            <a:r>
              <a:rPr sz="1125" b="1">
                <a:solidFill>
                  <a:srgbClr val="F6F7FA"/>
                </a:solidFill>
              </a:rPr>
              <a:t>Единый план без ручной сверки нескольких Excel</a:t>
            </a:r>
          </a:p>
        </p:txBody>
      </p:sp>
    </p:spTree>
    <p:extLst>
      <p:ext uri="{BB962C8B-B14F-4D97-AF65-F5344CB8AC3E}">
        <p14:creationId xmlns:p14="http://schemas.microsoft.com/office/powerpoint/2010/main" val="1105114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FB064-0763-4C8E-94B9-DB0ECBF4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0805E-6AD9-498D-8845-4EB6B6BF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D6C2E-3F08-4D57-B169-7DEFDC6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E0DFA-17F3-4CB1-929B-6395B0A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C70CE-E735-4E10-97AD-85AF95A5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РАБОЧЕЕ МЕСТО ПЛАНЕРА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4D89-96D7-4BB9-A0D0-9B3CC62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План виден сразу: день, неделя,</a:t>
            </a:r>
          </a:p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таблица и линия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0A0B2-5652-4B15-ADFE-F57EB74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857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F81A9-C688-46CB-966E-BF218253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Общий план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3C7CF-404D-4C60-BC96-09D94DBA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Цех → линия →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16E4-E29F-4C7A-8C36-7C7F2D6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4857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9D6C-110A-4B70-A5E4-2C435A8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Недельная матрица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C2BA3-465D-455F-95C9-72F01953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146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Все задания без «ещё»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423C9-15DD-413D-953F-CF4F79BB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857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95C5E-66C6-4943-8DC5-D62DF84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Таблица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089D5-E02E-4DA7-8939-4065C17A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Дата → цех → линия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F2FD3-F155-49A9-A4AF-C200842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4857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39FE8-23D9-4F69-A15B-992E8A4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Карточка ГП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34333-F81A-448A-AB78-0762E77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43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Штуки, кг, короба, время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80974-E093-4948-876A-0D8598FE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BDC7"/>
                </a:solidFill>
              </a:defRPr>
            </a:pPr>
            <a:r>
              <a:rPr sz="1200" b="0">
                <a:solidFill>
                  <a:srgbClr val="B8BDC7"/>
                </a:solidFill>
              </a:rPr>
              <a:t>Переключение масштаба помогает работать с большим объёмом плана на любом экране.</a:t>
            </a:r>
          </a:p>
        </p:txBody>
      </p:sp>
    </p:spTree>
    <p:extLst>
      <p:ext uri="{BB962C8B-B14F-4D97-AF65-F5344CB8AC3E}">
        <p14:creationId xmlns:p14="http://schemas.microsoft.com/office/powerpoint/2010/main" val="1062782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3751F-B096-4C4E-A774-2198FFA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0645E-2FDE-4292-ACF6-94E6FAC4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D7C36-6510-4C06-8848-CAA75716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EE50C-A486-4647-98B1-B67710E3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EA433-2B9B-467D-8022-479DA9FB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АЛГОРИТМ ПЛАНИРОВАНИЯ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8415F-044E-48A5-B52D-828C80C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Автоматическая расстановка</a:t>
            </a:r>
          </a:p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с технологическими ограничениями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4D1C2-8308-4991-A87F-48481C26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430F6-74C8-47F9-BFC2-080C7C3B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1B00C-ADDF-45D3-8817-7B6216E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7FA"/>
                </a:solidFill>
              </a:defRPr>
            </a:pPr>
            <a:r>
              <a:rPr sz="1500" b="1">
                <a:solidFill>
                  <a:srgbClr val="F6F7FA"/>
                </a:solidFill>
              </a:rPr>
              <a:t>ОХЛ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19247-166A-4918-9EB1-62EA9F7C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BDC7"/>
                </a:solidFill>
              </a:defRPr>
            </a:pPr>
            <a:r>
              <a:rPr sz="975" b="0">
                <a:solidFill>
                  <a:srgbClr val="B8BDC7"/>
                </a:solidFill>
              </a:rPr>
              <a:t>Ставится строго на дату источника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8F2D4-D889-4D37-BB85-93566DF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7662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50A35"/>
                </a:solidFill>
              </a:defRPr>
            </a:pPr>
            <a:r>
              <a:rPr sz="1800" b="1">
                <a:solidFill>
                  <a:srgbClr val="D50A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06F7B-8697-4A56-96D6-A5B1890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6F122-7B16-40E7-BBF5-FC26771B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5E40A-67B2-420C-8EC4-4DD2301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7FA"/>
                </a:solidFill>
              </a:defRPr>
            </a:pPr>
            <a:r>
              <a:rPr sz="1500" b="1">
                <a:solidFill>
                  <a:srgbClr val="F6F7FA"/>
                </a:solidFill>
              </a:rPr>
              <a:t>Квант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B5A86-A3C1-41E5-A600-84AEC3B4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BDC7"/>
                </a:solidFill>
              </a:defRPr>
            </a:pPr>
            <a:r>
              <a:rPr sz="975" b="0">
                <a:solidFill>
                  <a:srgbClr val="B8BDC7"/>
                </a:solidFill>
              </a:rPr>
              <a:t>Проверка коробов, замеса и скорости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19C9B-4C41-4E70-ACE9-5B95740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7662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50A35"/>
                </a:solidFill>
              </a:defRPr>
            </a:pPr>
            <a:r>
              <a:rPr sz="1800" b="1">
                <a:solidFill>
                  <a:srgbClr val="D50A3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C285C-FF33-4B10-A848-89D6CA1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42EBF-CCFA-4C4B-8F2C-D0AB921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AAFE4-60E8-4C33-B2A6-7ADF840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7FA"/>
                </a:solidFill>
              </a:defRPr>
            </a:pPr>
            <a:r>
              <a:rPr sz="1500" b="1">
                <a:solidFill>
                  <a:srgbClr val="F6F7FA"/>
                </a:solidFill>
              </a:rPr>
              <a:t>ЗАМ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68031-4D6F-4001-A05D-8FEDA525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BDC7"/>
                </a:solidFill>
              </a:defRPr>
            </a:pPr>
            <a:r>
              <a:rPr sz="975" b="0">
                <a:solidFill>
                  <a:srgbClr val="B8BDC7"/>
                </a:solidFill>
              </a:rPr>
              <a:t>Занимает остаток свободной мощности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F05B6-BF27-4A70-A0CD-2537BE6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76625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50A35"/>
                </a:solidFill>
              </a:defRPr>
            </a:pPr>
            <a:r>
              <a:rPr sz="1800" b="1">
                <a:solidFill>
                  <a:srgbClr val="D50A3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241FD-695A-4BD8-A1BB-23EBBD9A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0035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94BDE-C6C6-4377-BECC-CDD22FBC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90B94-FA2B-4DD1-B92C-0522682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7FA"/>
                </a:solidFill>
              </a:defRPr>
            </a:pPr>
            <a:r>
              <a:rPr sz="1500" b="1">
                <a:solidFill>
                  <a:srgbClr val="F6F7FA"/>
                </a:solidFill>
              </a:rPr>
              <a:t>Контроль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7F107-9AE0-48F1-A86C-E5208C89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8BDC7"/>
                </a:solidFill>
              </a:defRPr>
            </a:pPr>
            <a:r>
              <a:rPr sz="975" b="0">
                <a:solidFill>
                  <a:srgbClr val="B8BDC7"/>
                </a:solidFill>
              </a:rPr>
              <a:t>Перегрузка и невыполнимость отмечаются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723815-DF71-4B9D-B9EB-C411F42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Для задач с расчётным временем меньше минуты система фиксирует минимум 1 минуту.</a:t>
            </a:r>
          </a:p>
        </p:txBody>
      </p:sp>
    </p:spTree>
    <p:extLst>
      <p:ext uri="{BB962C8B-B14F-4D97-AF65-F5344CB8AC3E}">
        <p14:creationId xmlns:p14="http://schemas.microsoft.com/office/powerpoint/2010/main" val="1951702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F6995-AE27-4D5D-B657-10933FD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C5D8F-4513-41AC-ADA0-B0CA053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E17DC-25B9-4E8D-8F27-1714B05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D68A4-3193-4EA1-90C8-C386F58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89DF8-B9CD-41E6-822B-2BCC694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УПРАВЛЕНИЕ МОЩНОСТЬЮ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8279-E069-4E9E-916B-07C0C906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Графики линий и операционные сутки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4417F-F768-418E-AFA6-BE23E6FA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5BB9B-EFF7-4FF0-BF2B-1EB4F03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7FA"/>
                </a:solidFill>
              </a:defRPr>
            </a:pPr>
            <a:r>
              <a:rPr sz="1425" b="1">
                <a:solidFill>
                  <a:srgbClr val="F6F7FA"/>
                </a:solidFill>
              </a:rPr>
              <a:t>Шаблоны графиков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54EC1-CC85-4EA2-BED3-2FB206DA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50A35"/>
                </a:solidFill>
              </a:defRPr>
            </a:pPr>
            <a:r>
              <a:rPr sz="1200" b="1">
                <a:solidFill>
                  <a:srgbClr val="D50A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7A51E-7DEB-43EC-B70A-06CBACD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День / ночь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E8229-5748-47A0-A225-8F061CE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50A35"/>
                </a:solidFill>
              </a:defRPr>
            </a:pPr>
            <a:r>
              <a:rPr sz="1200" b="1">
                <a:solidFill>
                  <a:srgbClr val="D50A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706B-58B1-4363-BD91-154D2F1D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2/2 дневные смены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97A6A-B502-4D59-8882-8461B68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50A35"/>
                </a:solidFill>
              </a:defRPr>
            </a:pPr>
            <a:r>
              <a:rPr sz="1200" b="1">
                <a:solidFill>
                  <a:srgbClr val="D50A3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F00CC-E2BF-4CB7-9C93-36FB3FB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Хлеб: 22 / 22 / 11 /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9079C-C8BE-4388-B8A6-9DB231D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50A35"/>
                </a:solidFill>
              </a:defRPr>
            </a:pPr>
            <a:r>
              <a:rPr sz="1200" b="1">
                <a:solidFill>
                  <a:srgbClr val="D50A3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13E35-FE3A-4148-B54F-89004B8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7FA"/>
                </a:solidFill>
              </a:defRPr>
            </a:pPr>
            <a:r>
              <a:rPr sz="1125" b="1">
                <a:solidFill>
                  <a:srgbClr val="F6F7FA"/>
                </a:solidFill>
              </a:rPr>
              <a:t>Пользовательский шаблон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F2145-A4D6-422E-B771-D29AFA1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9D8D-6A36-4553-8D14-410928E9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7FA"/>
                </a:solidFill>
              </a:defRPr>
            </a:pPr>
            <a:r>
              <a:rPr sz="1425" b="1">
                <a:solidFill>
                  <a:srgbClr val="F6F7FA"/>
                </a:solidFill>
              </a:rPr>
              <a:t>ПЦ: 15:00 → 15:00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9BDFB-7F1E-423E-9DED-9BDD92AD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Мойка 1 час ставится между группами монопродукта и занимает доступные часы линии.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B82AC-A738-4075-A8C5-7A7C47E7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7FA"/>
                </a:solidFill>
              </a:defRPr>
            </a:pPr>
            <a:r>
              <a:rPr sz="1125" b="1">
                <a:solidFill>
                  <a:srgbClr val="F6F7FA"/>
                </a:solidFill>
              </a:rPr>
              <a:t>Изменение графика автоматически пересчитывает расстановку активного плана.</a:t>
            </a:r>
          </a:p>
        </p:txBody>
      </p:sp>
    </p:spTree>
    <p:extLst>
      <p:ext uri="{BB962C8B-B14F-4D97-AF65-F5344CB8AC3E}">
        <p14:creationId xmlns:p14="http://schemas.microsoft.com/office/powerpoint/2010/main" val="1632201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EE5DF-634F-444D-9E76-30FC7DF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4B18E-5CB8-4C93-A21D-114A0FA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56107-E82D-443B-8AE4-CC20D02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26F26-86DF-48B1-928D-A112E2A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FCDE-83FF-4656-8199-F838FA6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РОЛИ И СИНХРОНИЗАЦИЯ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8C220-0130-48CD-B9FA-A7A7296E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Совместная работа и контроль изменений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7AD01-514B-43C0-B4DE-711A89B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092D7-B8BB-46AA-A352-A0CA9B7C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277BF-52DA-4562-A9F3-F25EBB0D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D8788-0965-454F-B886-608C820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Планер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D6BE1-D9BA-478D-A987-487CD3A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527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создаёт, переносит и корректирует задания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C015C-EA70-4F2A-AEA0-3FDE316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550B3-0D7F-47BB-921E-D6F6288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77B9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2F2CD-B037-4598-91CA-D369DDE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3159A-4B67-4E91-9B2D-AFE9FEC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76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Мастер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DA2FB-E6AF-4A94-A3CF-05899CB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433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видит свою линию и отмечает статус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C133F-E6A6-41D4-A135-1A748853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E8DE6-116A-4837-8C4E-7A01D7E2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E906C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E54B8-186B-4941-8744-45C157AD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857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35BE2-1543-468A-83C7-C84B6764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67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7FA"/>
                </a:solidFill>
              </a:defRPr>
            </a:pPr>
            <a:r>
              <a:rPr sz="1350" b="1">
                <a:solidFill>
                  <a:srgbClr val="F6F7FA"/>
                </a:solidFill>
              </a:rPr>
              <a:t>Администратор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09A45-980C-4C9E-BA1D-920C8657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права, почта, очистка плана и настройки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F6508-77C6-445E-8C36-7BA3EA8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8BDC7"/>
                </a:solidFill>
              </a:defRPr>
            </a:pPr>
            <a:r>
              <a:rPr sz="1125" b="0">
                <a:solidFill>
                  <a:srgbClr val="B8BDC7"/>
                </a:solidFill>
              </a:rPr>
              <a:t>Автосинхронизация обновляет открытый план каждые 10 секунд; каждое изменение остаётся в журнале аудита.</a:t>
            </a:r>
          </a:p>
        </p:txBody>
      </p:sp>
    </p:spTree>
    <p:extLst>
      <p:ext uri="{BB962C8B-B14F-4D97-AF65-F5344CB8AC3E}">
        <p14:creationId xmlns:p14="http://schemas.microsoft.com/office/powerpoint/2010/main" val="732128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820D6-72EC-40CE-B634-D72DC4E8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5143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50A35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B34D7-EB22-42C1-AA7C-B932D42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B0F5-1BB2-42E0-A7E4-13095E27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PLAN PORTAL · ФК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1C35F-FFA1-4F84-A063-964FF2C7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BDC7"/>
                </a:solidFill>
              </a:defRPr>
            </a:pPr>
            <a:r>
              <a:rPr sz="900" b="1">
                <a:solidFill>
                  <a:srgbClr val="B8BDC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0ED67-CDA9-489C-A440-B216502F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50A35"/>
                </a:solidFill>
              </a:defRPr>
            </a:pPr>
            <a:r>
              <a:rPr sz="900" b="1">
                <a:solidFill>
                  <a:srgbClr val="D50A35"/>
                </a:solidFill>
              </a:rPr>
              <a:t>ОПЕРАЦИОННЫЙ ВЫХОД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BEB7A-53E5-43D9-A9E6-6202E707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6F7FA"/>
                </a:solidFill>
              </a:defRPr>
            </a:pPr>
            <a:r>
              <a:rPr sz="2700" b="1">
                <a:solidFill>
                  <a:srgbClr val="F6F7FA"/>
                </a:solidFill>
              </a:rPr>
              <a:t>Выдача плана и интеграции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D563E-7BDA-4649-9427-C8FBF2F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7A7FF-477C-425F-A28D-666F5C8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0A35"/>
                </a:solidFill>
              </a:defRPr>
            </a:pPr>
            <a:r>
              <a:rPr sz="1350" b="1">
                <a:solidFill>
                  <a:srgbClr val="D50A35"/>
                </a:solidFill>
              </a:rPr>
              <a:t>CSB 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7AC60-DAB3-4AEA-B00F-759C79B5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Скачать файл для прогрузки на следующий день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EF41F-FB8D-4183-AD5F-36297BD1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3365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2407F-0DE7-4EA7-A149-4C37A1C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0A35"/>
                </a:solidFill>
              </a:defRPr>
            </a:pPr>
            <a:r>
              <a:rPr sz="1350" b="1">
                <a:solidFill>
                  <a:srgbClr val="D50A35"/>
                </a:solidFill>
              </a:rPr>
              <a:t>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717C-A118-4A4D-BD69-2BFBEBBF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ПЦ, КЦ и лист для выгрузки в одном файле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5CA9E-D412-41C6-BFB3-CB73BF0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87016-504C-48DA-A7E5-E5F9EC5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0A35"/>
                </a:solidFill>
              </a:defRPr>
            </a:pPr>
            <a:r>
              <a:rPr sz="1350" b="1">
                <a:solidFill>
                  <a:srgbClr val="D50A35"/>
                </a:solidFill>
              </a:rPr>
              <a:t>E-mail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B10F8-EA01-4E0E-9F8C-EF3156B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Отправка по выбранным линиям и адресатам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97CAF-65CC-4B15-8355-F5F3C2E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4810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4262D"/>
          </a:solidFill>
          <a:ln xmlns:a="http://schemas.openxmlformats.org/drawingml/2006/main" w="9525">
            <a:solidFill>
              <a:srgbClr val="4245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276E9-3148-40B4-806C-CA4629D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0A35"/>
                </a:solidFill>
              </a:defRPr>
            </a:pPr>
            <a:r>
              <a:rPr sz="1350" b="1">
                <a:solidFill>
                  <a:srgbClr val="D50A35"/>
                </a:solidFill>
              </a:rPr>
              <a:t>Справочник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E8C2E-3050-42B8-B13B-2D732B6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8BDC7"/>
                </a:solidFill>
              </a:defRPr>
            </a:pPr>
            <a:r>
              <a:rPr sz="1050" b="0">
                <a:solidFill>
                  <a:srgbClr val="B8BDC7"/>
                </a:solidFill>
              </a:rPr>
              <a:t>Загрузка скоростей и ограничений из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40C3D-3F79-4831-B608-ED51DED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F7FA"/>
                </a:solidFill>
              </a:defRPr>
            </a:pPr>
            <a:r>
              <a:rPr sz="1125" b="1">
                <a:solidFill>
                  <a:srgbClr val="F6F7FA"/>
                </a:solidFill>
              </a:rPr>
              <a:t>Контур готов для подключения NAV и продуктивной CSB-интеграции после согласования реквизитов и доступа.</a:t>
            </a:r>
          </a:p>
        </p:txBody>
      </p:sp>
    </p:spTree>
    <p:extLst>
      <p:ext uri="{BB962C8B-B14F-4D97-AF65-F5344CB8AC3E}">
        <p14:creationId xmlns:p14="http://schemas.microsoft.com/office/powerpoint/2010/main" val="726564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2026-08-31T06:39:06.7200000Z</dcterms:created>
  <dcterms:modified xsi:type="dcterms:W3CDTF">2026-08-31T06:39:06.7200000Z</dcterms:modified>
</coreProperties>
</file>